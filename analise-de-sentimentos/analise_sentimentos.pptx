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504DF9F-A116-4957-B33E-B9584F8A543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175FBC-8B19-48B3-87D6-FF49D5E194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497B35-2A1A-435E-B45E-1033897775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AE2619-5A22-4EC0-A8D5-4C78A99674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307E70-29F1-4D70-BD39-BDADD3B07A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B057CC-4BE6-45CB-92F8-C028FE9977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71066D-38D2-4E51-BC60-ABA3C9AF62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B3C8B0-9043-4AD1-9DBE-0ABDB7328F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3160F-8DE3-49EB-98BF-8F75EB38EE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EDF0D1-146D-4EB3-B4F7-0B908EFE36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85ECEF-68D5-4C62-B51B-41CCA21F6B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B9DFAD-E5E7-4F17-AED3-DEC9E3DC49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100584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Análise de Sentimentos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173736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em Linguagem Natural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25786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AABBCC"/>
                </a:solidFill>
                <a:effectLst/>
                <a:uFillTx/>
                <a:latin typeface="Calibri"/>
              </a:rPr>
              <a:t>Polaridade · Léxico · Negação · Sarcasmo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457200" y="3063240"/>
            <a:ext cx="4572000" cy="360"/>
          </a:xfrm>
          <a:prstGeom prst="line">
            <a:avLst/>
          </a:prstGeom>
          <a:ln w="12700">
            <a:solidFill>
              <a:srgbClr val="00B4D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3255120"/>
            <a:ext cx="82292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Apresentação Teórica  ·  Biblioteca LeIA (Português Brasileiro)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457200" y="3840480"/>
            <a:ext cx="1874160" cy="365400"/>
          </a:xfrm>
          <a:prstGeom prst="roundRect">
            <a:avLst>
              <a:gd name="adj" fmla="val 15000"/>
            </a:avLst>
          </a:prstGeom>
          <a:solidFill>
            <a:srgbClr val="25397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3840480"/>
            <a:ext cx="1874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Bruno Fernandes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2514600" y="3840480"/>
            <a:ext cx="1874160" cy="365400"/>
          </a:xfrm>
          <a:prstGeom prst="roundRect">
            <a:avLst>
              <a:gd name="adj" fmla="val 15000"/>
            </a:avLst>
          </a:prstGeom>
          <a:solidFill>
            <a:srgbClr val="25397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2514600" y="3840480"/>
            <a:ext cx="1874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Diogo Palharini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4572000" y="3840480"/>
            <a:ext cx="1874160" cy="365400"/>
          </a:xfrm>
          <a:prstGeom prst="roundRect">
            <a:avLst>
              <a:gd name="adj" fmla="val 15000"/>
            </a:avLst>
          </a:prstGeom>
          <a:solidFill>
            <a:srgbClr val="25397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4572000" y="3840480"/>
            <a:ext cx="1874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Erika Ribeiro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6629400" y="3840480"/>
            <a:ext cx="1874160" cy="365400"/>
          </a:xfrm>
          <a:prstGeom prst="roundRect">
            <a:avLst>
              <a:gd name="adj" fmla="val 15000"/>
            </a:avLst>
          </a:prstGeom>
          <a:solidFill>
            <a:srgbClr val="25397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6629400" y="3840480"/>
            <a:ext cx="1874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Jonas Ribeiro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457200" y="25596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B5E"/>
                </a:solidFill>
                <a:effectLst/>
                <a:uFillTx/>
                <a:latin typeface="Calibri"/>
                <a:ea typeface="Calibri"/>
              </a:rPr>
              <a:t>Agenda da Apresentação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457200" y="896040"/>
            <a:ext cx="5436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640080" y="89604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Blocos temáticos: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365760" y="1371600"/>
            <a:ext cx="4114440" cy="1508400"/>
          </a:xfrm>
          <a:prstGeom prst="rect">
            <a:avLst/>
          </a:prstGeom>
          <a:solidFill>
            <a:srgbClr val="EAF3FB"/>
          </a:solidFill>
          <a:ln w="19050">
            <a:solidFill>
              <a:srgbClr val="00B4D8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365760" y="1371600"/>
            <a:ext cx="502560" cy="1508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365760" y="1371600"/>
            <a:ext cx="5025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960120" y="157284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Polaridade vs. Subjetividade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960120" y="1965960"/>
            <a:ext cx="33372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As duas dimensões de medição do sentimento textual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4800600" y="1371600"/>
            <a:ext cx="4114440" cy="1508400"/>
          </a:xfrm>
          <a:prstGeom prst="rect">
            <a:avLst/>
          </a:prstGeom>
          <a:solidFill>
            <a:srgbClr val="F0FBF9"/>
          </a:solidFill>
          <a:ln w="19050">
            <a:solidFill>
              <a:srgbClr val="1A2B5E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4800600" y="1371600"/>
            <a:ext cx="502560" cy="15084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4800600" y="1371600"/>
            <a:ext cx="5025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5394960" y="157284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Abordagem Léxica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5394960" y="1965960"/>
            <a:ext cx="33372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Dicionários anotados, pesos numéricos e a biblioteca LeIA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365760" y="3035880"/>
            <a:ext cx="4114440" cy="1508400"/>
          </a:xfrm>
          <a:prstGeom prst="rect">
            <a:avLst/>
          </a:prstGeom>
          <a:solidFill>
            <a:srgbClr val="EAF3FB"/>
          </a:solidFill>
          <a:ln w="19050">
            <a:solidFill>
              <a:srgbClr val="2EC4B6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4"/>
          <p:cNvSpPr/>
          <p:nvPr/>
        </p:nvSpPr>
        <p:spPr>
          <a:xfrm>
            <a:off x="365760" y="3035880"/>
            <a:ext cx="502560" cy="15084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365760" y="3035880"/>
            <a:ext cx="5025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960120" y="323712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Desafio da Negação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960120" y="3630240"/>
            <a:ext cx="33372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Como a sintaxe inverte polaridade — 'não é bom'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4800600" y="3035880"/>
            <a:ext cx="4114440" cy="1508400"/>
          </a:xfrm>
          <a:prstGeom prst="rect">
            <a:avLst/>
          </a:prstGeom>
          <a:solidFill>
            <a:srgbClr val="F0FBF9"/>
          </a:solidFill>
          <a:ln w="19050">
            <a:solidFill>
              <a:srgbClr val="E63946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4800600" y="3035880"/>
            <a:ext cx="502560" cy="1508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4800600" y="3035880"/>
            <a:ext cx="5025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1"/>
          <p:cNvSpPr/>
          <p:nvPr/>
        </p:nvSpPr>
        <p:spPr>
          <a:xfrm>
            <a:off x="5394960" y="323712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Problema do Sarcasmo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2"/>
          <p:cNvSpPr/>
          <p:nvPr/>
        </p:nvSpPr>
        <p:spPr>
          <a:xfrm>
            <a:off x="5394960" y="3630240"/>
            <a:ext cx="33372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Por que a ironia é o maior obstáculo do NLP léxico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5596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B5E"/>
                </a:solidFill>
                <a:effectLst/>
                <a:uFillTx/>
                <a:latin typeface="Calibri"/>
                <a:ea typeface="Calibri"/>
              </a:rPr>
              <a:t>O que é Análise de Sentimentos?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457200" y="896040"/>
            <a:ext cx="5436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40080" y="89604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Extraindo emoção e opinião de texto em português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365760" y="1298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Definição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365760" y="1609200"/>
            <a:ext cx="4023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Análise de sentimentos é a tarefa de Processamento de Linguagem Natural (NLP) que classifica o tom emocional de um texto: positivo, negativo ou neutro.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365760" y="2606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Aplicações práticas: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365760" y="2907720"/>
            <a:ext cx="40230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3344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Reviews de jogos e produtos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3344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Monitoramento de redes sociais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3344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Análise de feedback de clientes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3344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Pesquisa de opinião pública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4754880" y="12985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Pipeline de Classificação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4754880" y="1664280"/>
            <a:ext cx="4023000" cy="529920"/>
          </a:xfrm>
          <a:prstGeom prst="rect">
            <a:avLst/>
          </a:prstGeom>
          <a:solidFill>
            <a:srgbClr val="EAF3FB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9"/>
          <p:cNvSpPr/>
          <p:nvPr/>
        </p:nvSpPr>
        <p:spPr>
          <a:xfrm>
            <a:off x="4754880" y="1664280"/>
            <a:ext cx="63720" cy="529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4883040" y="1691640"/>
            <a:ext cx="3748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TEXTO BRUTO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4883040" y="1920240"/>
            <a:ext cx="3748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"gostei muito do jogo, excelente!"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2"/>
          <p:cNvSpPr/>
          <p:nvPr/>
        </p:nvSpPr>
        <p:spPr>
          <a:xfrm>
            <a:off x="6766560" y="2194560"/>
            <a:ext cx="360" cy="200880"/>
          </a:xfrm>
          <a:prstGeom prst="line">
            <a:avLst/>
          </a:prstGeom>
          <a:ln w="12700">
            <a:solidFill>
              <a:srgbClr val="6B7A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3"/>
          <p:cNvSpPr/>
          <p:nvPr/>
        </p:nvSpPr>
        <p:spPr>
          <a:xfrm>
            <a:off x="4754880" y="2395800"/>
            <a:ext cx="4023000" cy="529920"/>
          </a:xfrm>
          <a:prstGeom prst="rect">
            <a:avLst/>
          </a:prstGeom>
          <a:solidFill>
            <a:srgbClr val="EEF2FF"/>
          </a:solidFill>
          <a:ln w="1905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4754880" y="2395800"/>
            <a:ext cx="63720" cy="5299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4883040" y="2423160"/>
            <a:ext cx="3748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PRÉ-PROCESSAMENTO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4883040" y="2651760"/>
            <a:ext cx="3748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tokenização, normalização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6766560" y="2926080"/>
            <a:ext cx="360" cy="200880"/>
          </a:xfrm>
          <a:prstGeom prst="line">
            <a:avLst/>
          </a:prstGeom>
          <a:ln w="12700">
            <a:solidFill>
              <a:srgbClr val="6B7A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8"/>
          <p:cNvSpPr/>
          <p:nvPr/>
        </p:nvSpPr>
        <p:spPr>
          <a:xfrm>
            <a:off x="4754880" y="3127320"/>
            <a:ext cx="4023000" cy="529920"/>
          </a:xfrm>
          <a:prstGeom prst="rect">
            <a:avLst/>
          </a:prstGeom>
          <a:solidFill>
            <a:srgbClr val="F0FBF9"/>
          </a:solidFill>
          <a:ln w="1905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9"/>
          <p:cNvSpPr/>
          <p:nvPr/>
        </p:nvSpPr>
        <p:spPr>
          <a:xfrm>
            <a:off x="4754880" y="3127320"/>
            <a:ext cx="63720" cy="529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4883040" y="3154680"/>
            <a:ext cx="3748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ANÁLISE LÉXICA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1"/>
          <p:cNvSpPr/>
          <p:nvPr/>
        </p:nvSpPr>
        <p:spPr>
          <a:xfrm>
            <a:off x="4883040" y="3383280"/>
            <a:ext cx="3748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lookup no dicionário LeIA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2"/>
          <p:cNvSpPr/>
          <p:nvPr/>
        </p:nvSpPr>
        <p:spPr>
          <a:xfrm>
            <a:off x="6766560" y="3657600"/>
            <a:ext cx="360" cy="200880"/>
          </a:xfrm>
          <a:prstGeom prst="line">
            <a:avLst/>
          </a:prstGeom>
          <a:ln w="12700">
            <a:solidFill>
              <a:srgbClr val="6B7A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3"/>
          <p:cNvSpPr/>
          <p:nvPr/>
        </p:nvSpPr>
        <p:spPr>
          <a:xfrm>
            <a:off x="4754880" y="3858840"/>
            <a:ext cx="4023000" cy="529920"/>
          </a:xfrm>
          <a:prstGeom prst="rect">
            <a:avLst/>
          </a:prstGeom>
          <a:solidFill>
            <a:srgbClr val="FFF0F1"/>
          </a:solidFill>
          <a:ln w="1905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4"/>
          <p:cNvSpPr/>
          <p:nvPr/>
        </p:nvSpPr>
        <p:spPr>
          <a:xfrm>
            <a:off x="4754880" y="3858840"/>
            <a:ext cx="63720" cy="529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5"/>
          <p:cNvSpPr/>
          <p:nvPr/>
        </p:nvSpPr>
        <p:spPr>
          <a:xfrm>
            <a:off x="4883040" y="3886200"/>
            <a:ext cx="3748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SCORE FINAL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6"/>
          <p:cNvSpPr/>
          <p:nvPr/>
        </p:nvSpPr>
        <p:spPr>
          <a:xfrm>
            <a:off x="4883040" y="4114800"/>
            <a:ext cx="3748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compound: +0.87 → POSITIVA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7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8"/>
          <p:cNvSpPr/>
          <p:nvPr/>
        </p:nvSpPr>
        <p:spPr>
          <a:xfrm>
            <a:off x="320040" y="4754880"/>
            <a:ext cx="850356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Bloco 1 — Introdução &amp; Fundamentos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457200" y="25596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B5E"/>
                </a:solidFill>
                <a:effectLst/>
                <a:uFillTx/>
                <a:latin typeface="Calibri"/>
                <a:ea typeface="Calibri"/>
              </a:rPr>
              <a:t>Polaridade vs. Subjetividade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"/>
          <p:cNvSpPr/>
          <p:nvPr/>
        </p:nvSpPr>
        <p:spPr>
          <a:xfrm>
            <a:off x="457200" y="896040"/>
            <a:ext cx="5436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640080" y="89604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As duas dimensões independentes do sentimento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"/>
          <p:cNvSpPr/>
          <p:nvPr/>
        </p:nvSpPr>
        <p:spPr>
          <a:xfrm>
            <a:off x="320040" y="1280160"/>
            <a:ext cx="3931560" cy="3337200"/>
          </a:xfrm>
          <a:prstGeom prst="rect">
            <a:avLst/>
          </a:prstGeom>
          <a:solidFill>
            <a:srgbClr val="EAF3FB"/>
          </a:solidFill>
          <a:ln w="19050">
            <a:solidFill>
              <a:srgbClr val="00B4D8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320040" y="1280160"/>
            <a:ext cx="3931560" cy="402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320040" y="1280160"/>
            <a:ext cx="3931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POLARIDADE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457200" y="17557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Quão positivo ou negativo?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7"/>
          <p:cNvSpPr/>
          <p:nvPr/>
        </p:nvSpPr>
        <p:spPr>
          <a:xfrm>
            <a:off x="548640" y="2121480"/>
            <a:ext cx="3520080" cy="237240"/>
          </a:xfrm>
          <a:prstGeom prst="rect">
            <a:avLst/>
          </a:prstGeom>
          <a:solidFill>
            <a:srgbClr val="EEF0F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548640" y="2121480"/>
            <a:ext cx="1691280" cy="237240"/>
          </a:xfrm>
          <a:prstGeom prst="rect">
            <a:avLst/>
          </a:prstGeom>
          <a:solidFill>
            <a:srgbClr val="FFD6D6"/>
          </a:solidFill>
          <a:ln w="12700">
            <a:solidFill>
              <a:srgbClr val="FFD6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9"/>
          <p:cNvSpPr/>
          <p:nvPr/>
        </p:nvSpPr>
        <p:spPr>
          <a:xfrm>
            <a:off x="2377440" y="2121480"/>
            <a:ext cx="1691280" cy="237240"/>
          </a:xfrm>
          <a:prstGeom prst="rect">
            <a:avLst/>
          </a:prstGeom>
          <a:solidFill>
            <a:srgbClr val="C8F7E0"/>
          </a:solidFill>
          <a:ln w="12700">
            <a:solidFill>
              <a:srgbClr val="C8F7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0"/>
          <p:cNvSpPr/>
          <p:nvPr/>
        </p:nvSpPr>
        <p:spPr>
          <a:xfrm>
            <a:off x="2308680" y="2029680"/>
            <a:ext cx="360" cy="457200"/>
          </a:xfrm>
          <a:prstGeom prst="line">
            <a:avLst/>
          </a:prstGeom>
          <a:ln w="12700">
            <a:solidFill>
              <a:srgbClr val="6B7A99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1"/>
          <p:cNvSpPr/>
          <p:nvPr/>
        </p:nvSpPr>
        <p:spPr>
          <a:xfrm>
            <a:off x="548640" y="237744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63946"/>
                </a:solidFill>
                <a:effectLst/>
                <a:uFillTx/>
                <a:latin typeface="Calibri"/>
              </a:rPr>
              <a:t>-1.0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2157840" y="2377440"/>
            <a:ext cx="365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0.0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3"/>
          <p:cNvSpPr/>
          <p:nvPr/>
        </p:nvSpPr>
        <p:spPr>
          <a:xfrm>
            <a:off x="3566160" y="237744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EC4B6"/>
                </a:solidFill>
                <a:effectLst/>
                <a:uFillTx/>
                <a:latin typeface="Calibri"/>
              </a:rPr>
              <a:t>+1.0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4"/>
          <p:cNvSpPr/>
          <p:nvPr/>
        </p:nvSpPr>
        <p:spPr>
          <a:xfrm>
            <a:off x="548640" y="261504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63946"/>
                </a:solidFill>
                <a:effectLst/>
                <a:uFillTx/>
                <a:latin typeface="Calibri"/>
              </a:rPr>
              <a:t>← Negativo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5"/>
          <p:cNvSpPr/>
          <p:nvPr/>
        </p:nvSpPr>
        <p:spPr>
          <a:xfrm>
            <a:off x="2377440" y="2615040"/>
            <a:ext cx="169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C4B6"/>
                </a:solidFill>
                <a:effectLst/>
                <a:uFillTx/>
                <a:latin typeface="Calibri"/>
              </a:rPr>
              <a:t>Positivo →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457200" y="2907720"/>
            <a:ext cx="3657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Positivo: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"gostei muito, excelente!" → </a:t>
            </a:r>
            <a:r>
              <a:rPr lang="en-US" sz="1100" b="1" u="none" strike="noStrike">
                <a:solidFill>
                  <a:srgbClr val="2EC4B6"/>
                </a:solidFill>
                <a:effectLst/>
                <a:uFillTx/>
                <a:latin typeface="Calibri"/>
              </a:rPr>
              <a:t>+0.87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457200" y="3182040"/>
            <a:ext cx="3657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Negativo: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"horrível, ruim, cheio de bugs" → </a:t>
            </a:r>
            <a:r>
              <a:rPr lang="en-US" sz="1100" b="1" u="none" strike="noStrike">
                <a:solidFill>
                  <a:srgbClr val="E63946"/>
                </a:solidFill>
                <a:effectLst/>
                <a:uFillTx/>
                <a:latin typeface="Calibri"/>
              </a:rPr>
              <a:t>-0.74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8"/>
          <p:cNvSpPr/>
          <p:nvPr/>
        </p:nvSpPr>
        <p:spPr>
          <a:xfrm>
            <a:off x="457200" y="3456360"/>
            <a:ext cx="3657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Neutro: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"O jogo foi lançado hoje" → </a:t>
            </a:r>
            <a:r>
              <a:rPr lang="en-US" sz="1100" b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0.00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9"/>
          <p:cNvSpPr/>
          <p:nvPr/>
        </p:nvSpPr>
        <p:spPr>
          <a:xfrm>
            <a:off x="457200" y="42062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→ Medido pelo compound score do LeIA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0"/>
          <p:cNvSpPr/>
          <p:nvPr/>
        </p:nvSpPr>
        <p:spPr>
          <a:xfrm>
            <a:off x="4572000" y="1280160"/>
            <a:ext cx="4205880" cy="3337200"/>
          </a:xfrm>
          <a:prstGeom prst="rect">
            <a:avLst/>
          </a:prstGeom>
          <a:solidFill>
            <a:srgbClr val="FFF8EE"/>
          </a:solidFill>
          <a:ln w="19050">
            <a:solidFill>
              <a:srgbClr val="FFB703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1"/>
          <p:cNvSpPr/>
          <p:nvPr/>
        </p:nvSpPr>
        <p:spPr>
          <a:xfrm>
            <a:off x="4572000" y="1280160"/>
            <a:ext cx="4205880" cy="4021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2"/>
          <p:cNvSpPr/>
          <p:nvPr/>
        </p:nvSpPr>
        <p:spPr>
          <a:xfrm>
            <a:off x="4572000" y="1280160"/>
            <a:ext cx="4205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324"/>
                </a:solidFill>
                <a:effectLst/>
                <a:uFillTx/>
                <a:latin typeface="Calibri"/>
              </a:rPr>
              <a:t>SUBJETIVIDADE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3"/>
          <p:cNvSpPr/>
          <p:nvPr/>
        </p:nvSpPr>
        <p:spPr>
          <a:xfrm>
            <a:off x="4663440" y="175572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Opinião ou fato?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4"/>
          <p:cNvSpPr/>
          <p:nvPr/>
        </p:nvSpPr>
        <p:spPr>
          <a:xfrm>
            <a:off x="4754880" y="2121480"/>
            <a:ext cx="3657240" cy="237240"/>
          </a:xfrm>
          <a:prstGeom prst="rect">
            <a:avLst/>
          </a:prstGeom>
          <a:solidFill>
            <a:srgbClr val="EEF0F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5"/>
          <p:cNvSpPr/>
          <p:nvPr/>
        </p:nvSpPr>
        <p:spPr>
          <a:xfrm>
            <a:off x="4754880" y="2121480"/>
            <a:ext cx="731160" cy="237240"/>
          </a:xfrm>
          <a:prstGeom prst="rect">
            <a:avLst/>
          </a:prstGeom>
          <a:solidFill>
            <a:srgbClr val="E0E0FF"/>
          </a:solidFill>
          <a:ln w="12700">
            <a:solidFill>
              <a:srgbClr val="E0E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6"/>
          <p:cNvSpPr/>
          <p:nvPr/>
        </p:nvSpPr>
        <p:spPr>
          <a:xfrm>
            <a:off x="5486400" y="2121480"/>
            <a:ext cx="731160" cy="237240"/>
          </a:xfrm>
          <a:prstGeom prst="rect">
            <a:avLst/>
          </a:prstGeom>
          <a:solidFill>
            <a:srgbClr val="C0D0FF"/>
          </a:solidFill>
          <a:ln w="12700">
            <a:solidFill>
              <a:srgbClr val="C0D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7"/>
          <p:cNvSpPr/>
          <p:nvPr/>
        </p:nvSpPr>
        <p:spPr>
          <a:xfrm>
            <a:off x="6217920" y="2121480"/>
            <a:ext cx="731160" cy="237240"/>
          </a:xfrm>
          <a:prstGeom prst="rect">
            <a:avLst/>
          </a:prstGeom>
          <a:solidFill>
            <a:srgbClr val="FFDD99"/>
          </a:solidFill>
          <a:ln w="12700">
            <a:solidFill>
              <a:srgbClr val="FFDD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8"/>
          <p:cNvSpPr/>
          <p:nvPr/>
        </p:nvSpPr>
        <p:spPr>
          <a:xfrm>
            <a:off x="6949440" y="2121480"/>
            <a:ext cx="731160" cy="23724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9"/>
          <p:cNvSpPr/>
          <p:nvPr/>
        </p:nvSpPr>
        <p:spPr>
          <a:xfrm>
            <a:off x="7680960" y="2121480"/>
            <a:ext cx="731160" cy="2372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0"/>
          <p:cNvSpPr/>
          <p:nvPr/>
        </p:nvSpPr>
        <p:spPr>
          <a:xfrm>
            <a:off x="4754880" y="2377440"/>
            <a:ext cx="365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0.0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1"/>
          <p:cNvSpPr/>
          <p:nvPr/>
        </p:nvSpPr>
        <p:spPr>
          <a:xfrm>
            <a:off x="7955280" y="237744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703"/>
                </a:solidFill>
                <a:effectLst/>
                <a:uFillTx/>
                <a:latin typeface="Calibri"/>
              </a:rPr>
              <a:t>+1.0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2"/>
          <p:cNvSpPr/>
          <p:nvPr/>
        </p:nvSpPr>
        <p:spPr>
          <a:xfrm>
            <a:off x="4754880" y="261504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← Factual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3"/>
          <p:cNvSpPr/>
          <p:nvPr/>
        </p:nvSpPr>
        <p:spPr>
          <a:xfrm>
            <a:off x="6583680" y="261504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B703"/>
                </a:solidFill>
                <a:effectLst/>
                <a:uFillTx/>
                <a:latin typeface="Calibri"/>
              </a:rPr>
              <a:t>Opinativo →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4"/>
          <p:cNvSpPr/>
          <p:nvPr/>
        </p:nvSpPr>
        <p:spPr>
          <a:xfrm>
            <a:off x="4709160" y="2907720"/>
            <a:ext cx="39315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Fato: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"O jogo saiu em 2023" → </a:t>
            </a:r>
            <a:r>
              <a:rPr lang="en-US" sz="1100" b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0.0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5"/>
          <p:cNvSpPr/>
          <p:nvPr/>
        </p:nvSpPr>
        <p:spPr>
          <a:xfrm>
            <a:off x="4709160" y="3182040"/>
            <a:ext cx="39315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Opinião: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"Adorei cada momento!" → </a:t>
            </a:r>
            <a:r>
              <a:rPr lang="en-US" sz="1100" b="1" u="none" strike="noStrike">
                <a:solidFill>
                  <a:srgbClr val="FFB703"/>
                </a:solidFill>
                <a:effectLst/>
                <a:uFillTx/>
                <a:latin typeface="Calibri"/>
              </a:rPr>
              <a:t>+0.9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6"/>
          <p:cNvSpPr/>
          <p:nvPr/>
        </p:nvSpPr>
        <p:spPr>
          <a:xfrm>
            <a:off x="4709160" y="3456360"/>
            <a:ext cx="39315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Misto: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"As vendas caíram 10%" → </a:t>
            </a:r>
            <a:r>
              <a:rPr lang="en-US" sz="1100" b="1" u="none" strike="noStrike">
                <a:solidFill>
                  <a:srgbClr val="CC8800"/>
                </a:solidFill>
                <a:effectLst/>
                <a:uFillTx/>
                <a:latin typeface="Calibri"/>
              </a:rPr>
              <a:t>+0.3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7"/>
          <p:cNvSpPr/>
          <p:nvPr/>
        </p:nvSpPr>
        <p:spPr>
          <a:xfrm>
            <a:off x="4709160" y="420624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B703"/>
                </a:solidFill>
                <a:effectLst/>
                <a:uFillTx/>
                <a:latin typeface="Calibri"/>
              </a:rPr>
              <a:t>→ Conceito independente da polaridade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8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9"/>
          <p:cNvSpPr/>
          <p:nvPr/>
        </p:nvSpPr>
        <p:spPr>
          <a:xfrm>
            <a:off x="320040" y="4754880"/>
            <a:ext cx="850356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Bloco 1 — Polaridade vs. Subjetividade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457200" y="25596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B5E"/>
                </a:solidFill>
                <a:effectLst/>
                <a:uFillTx/>
                <a:latin typeface="Calibri"/>
                <a:ea typeface="Calibri"/>
              </a:rPr>
              <a:t>Abordagem Léxica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"/>
          <p:cNvSpPr/>
          <p:nvPr/>
        </p:nvSpPr>
        <p:spPr>
          <a:xfrm>
            <a:off x="457200" y="896040"/>
            <a:ext cx="5436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640080" y="89604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Como o computador 'aprende' a ler emoção sem treino supervisionado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457200" y="126180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Um dicionário de sentimentos é uma lista de palavras, cada uma com um peso numérico definido por linguistas.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365760" y="1783080"/>
            <a:ext cx="2697120" cy="2468520"/>
          </a:xfrm>
          <a:prstGeom prst="rect">
            <a:avLst/>
          </a:prstGeom>
          <a:solidFill>
            <a:srgbClr val="EAF3FB"/>
          </a:solidFill>
          <a:ln w="19050">
            <a:solidFill>
              <a:srgbClr val="1A2B5E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5"/>
          <p:cNvSpPr/>
          <p:nvPr/>
        </p:nvSpPr>
        <p:spPr>
          <a:xfrm>
            <a:off x="365760" y="1783080"/>
            <a:ext cx="2697120" cy="3837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365760" y="1783080"/>
            <a:ext cx="2697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LÉXICO ANOTADO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493920" y="2231280"/>
            <a:ext cx="24411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Palavras rotuladas manualmente por especialistas com scores de valência emocional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8"/>
          <p:cNvSpPr/>
          <p:nvPr/>
        </p:nvSpPr>
        <p:spPr>
          <a:xfrm>
            <a:off x="3246120" y="1783080"/>
            <a:ext cx="2697120" cy="2468520"/>
          </a:xfrm>
          <a:prstGeom prst="rect">
            <a:avLst/>
          </a:prstGeom>
          <a:solidFill>
            <a:srgbClr val="EAF3FB"/>
          </a:solidFill>
          <a:ln w="19050">
            <a:solidFill>
              <a:srgbClr val="2EC4B6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9"/>
          <p:cNvSpPr/>
          <p:nvPr/>
        </p:nvSpPr>
        <p:spPr>
          <a:xfrm>
            <a:off x="3246120" y="1783080"/>
            <a:ext cx="2697120" cy="3837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0"/>
          <p:cNvSpPr/>
          <p:nvPr/>
        </p:nvSpPr>
        <p:spPr>
          <a:xfrm>
            <a:off x="3246120" y="1783080"/>
            <a:ext cx="2697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PESOS NUMÉRICOS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3374280" y="2231280"/>
            <a:ext cx="24411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Cada palavra tem um valor: 'incrível' = +3.1, 'péssimo' = -2.9, 'ok' = +0.5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2"/>
          <p:cNvSpPr/>
          <p:nvPr/>
        </p:nvSpPr>
        <p:spPr>
          <a:xfrm>
            <a:off x="6126480" y="1783080"/>
            <a:ext cx="2697120" cy="2468520"/>
          </a:xfrm>
          <a:prstGeom prst="rect">
            <a:avLst/>
          </a:prstGeom>
          <a:solidFill>
            <a:srgbClr val="EAF3FB"/>
          </a:solidFill>
          <a:ln w="19050">
            <a:solidFill>
              <a:srgbClr val="00B4D8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3"/>
          <p:cNvSpPr/>
          <p:nvPr/>
        </p:nvSpPr>
        <p:spPr>
          <a:xfrm>
            <a:off x="6126480" y="1783080"/>
            <a:ext cx="2697120" cy="383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4"/>
          <p:cNvSpPr/>
          <p:nvPr/>
        </p:nvSpPr>
        <p:spPr>
          <a:xfrm>
            <a:off x="6126480" y="1783080"/>
            <a:ext cx="2697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REGRAS SINTÁTICAS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5"/>
          <p:cNvSpPr/>
          <p:nvPr/>
        </p:nvSpPr>
        <p:spPr>
          <a:xfrm>
            <a:off x="6254640" y="2231280"/>
            <a:ext cx="24411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Modificadores como negação, intensificadores ('muito', 'não') ajustam os pesos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6"/>
          <p:cNvSpPr/>
          <p:nvPr/>
        </p:nvSpPr>
        <p:spPr>
          <a:xfrm>
            <a:off x="365760" y="4334400"/>
            <a:ext cx="8412120" cy="347040"/>
          </a:xfrm>
          <a:prstGeom prst="rect">
            <a:avLst/>
          </a:prstGeom>
          <a:solidFill>
            <a:srgbClr val="25397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7"/>
          <p:cNvSpPr/>
          <p:nvPr/>
        </p:nvSpPr>
        <p:spPr>
          <a:xfrm>
            <a:off x="548640" y="433440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LeIA  —  Léxico para Inferência de Afeto  |  Adaptação do VADER para o Português Brasileiro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8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9"/>
          <p:cNvSpPr/>
          <p:nvPr/>
        </p:nvSpPr>
        <p:spPr>
          <a:xfrm>
            <a:off x="320040" y="4754880"/>
            <a:ext cx="850356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Bloco 2 — Abordagem Léxica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457200" y="25596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B5E"/>
                </a:solidFill>
                <a:effectLst/>
                <a:uFillTx/>
                <a:latin typeface="Calibri"/>
                <a:ea typeface="Calibri"/>
              </a:rPr>
              <a:t>LeIA — Léxico para Inferência de Afeto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"/>
          <p:cNvSpPr/>
          <p:nvPr/>
        </p:nvSpPr>
        <p:spPr>
          <a:xfrm>
            <a:off x="457200" y="896040"/>
            <a:ext cx="5436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640080" y="89604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Adaptação do VADER especialmente para o Português Brasileiro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365760" y="1280160"/>
            <a:ext cx="5028840" cy="3382920"/>
          </a:xfrm>
          <a:prstGeom prst="rect">
            <a:avLst/>
          </a:prstGeom>
          <a:solidFill>
            <a:srgbClr val="EAF3FB"/>
          </a:solidFill>
          <a:ln w="19050">
            <a:solidFill>
              <a:srgbClr val="1A2B5E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4"/>
          <p:cNvSpPr/>
          <p:nvPr/>
        </p:nvSpPr>
        <p:spPr>
          <a:xfrm>
            <a:off x="365760" y="1280160"/>
            <a:ext cx="5028840" cy="438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530280" y="1280160"/>
            <a:ext cx="4845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 que é o LeIA?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511920" y="1783080"/>
            <a:ext cx="468144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3344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Baseado na arquitetura do VADER (regras + léxico)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3344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Dicionário traduzido e expandido para o PT-BR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3344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Mantém os 4 scores: positivo, negativo, neutro e compound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3344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compound ≥ 0.05 → POSITIVA  |  ≤ -0.05 → NEGATIVA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3344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Herda as regras de negação e intensificadores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3344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Ideal para textos curtos: reviews, comentários, tweets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7"/>
          <p:cNvSpPr/>
          <p:nvPr/>
        </p:nvSpPr>
        <p:spPr>
          <a:xfrm>
            <a:off x="5669280" y="1280160"/>
            <a:ext cx="3108600" cy="3382920"/>
          </a:xfrm>
          <a:prstGeom prst="rect">
            <a:avLst/>
          </a:prstGeom>
          <a:solidFill>
            <a:srgbClr val="F0FBF9"/>
          </a:solidFill>
          <a:ln w="19050">
            <a:solidFill>
              <a:srgbClr val="2EC4B6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8"/>
          <p:cNvSpPr/>
          <p:nvPr/>
        </p:nvSpPr>
        <p:spPr>
          <a:xfrm>
            <a:off x="5669280" y="1280160"/>
            <a:ext cx="3108600" cy="4384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5806440" y="1280160"/>
            <a:ext cx="2925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Os 4 Scores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5760720" y="1810440"/>
            <a:ext cx="2907360" cy="566640"/>
          </a:xfrm>
          <a:prstGeom prst="rect">
            <a:avLst/>
          </a:prstGeom>
          <a:solidFill>
            <a:srgbClr val="FAFAFA"/>
          </a:solidFill>
          <a:ln w="1905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5833800" y="182880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EC4B6"/>
                </a:solidFill>
                <a:effectLst/>
                <a:uFillTx/>
                <a:latin typeface="Calibri"/>
              </a:rPr>
              <a:t>positivo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5833800" y="208476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proporção de palavras positivas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3"/>
          <p:cNvSpPr/>
          <p:nvPr/>
        </p:nvSpPr>
        <p:spPr>
          <a:xfrm>
            <a:off x="5760720" y="2505600"/>
            <a:ext cx="2907360" cy="566640"/>
          </a:xfrm>
          <a:prstGeom prst="rect">
            <a:avLst/>
          </a:prstGeom>
          <a:solidFill>
            <a:srgbClr val="FAFAFA"/>
          </a:solidFill>
          <a:ln w="1905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4"/>
          <p:cNvSpPr/>
          <p:nvPr/>
        </p:nvSpPr>
        <p:spPr>
          <a:xfrm>
            <a:off x="5833800" y="252360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63946"/>
                </a:solidFill>
                <a:effectLst/>
                <a:uFillTx/>
                <a:latin typeface="Calibri"/>
              </a:rPr>
              <a:t>negativo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5833800" y="277992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proporção de palavras negativas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6"/>
          <p:cNvSpPr/>
          <p:nvPr/>
        </p:nvSpPr>
        <p:spPr>
          <a:xfrm>
            <a:off x="5760720" y="3200400"/>
            <a:ext cx="2907360" cy="566640"/>
          </a:xfrm>
          <a:prstGeom prst="rect">
            <a:avLst/>
          </a:prstGeom>
          <a:solidFill>
            <a:srgbClr val="FAFAFA"/>
          </a:solidFill>
          <a:ln w="19050">
            <a:solidFill>
              <a:srgbClr val="6B7A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7"/>
          <p:cNvSpPr/>
          <p:nvPr/>
        </p:nvSpPr>
        <p:spPr>
          <a:xfrm>
            <a:off x="5833800" y="321876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neutro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8"/>
          <p:cNvSpPr/>
          <p:nvPr/>
        </p:nvSpPr>
        <p:spPr>
          <a:xfrm>
            <a:off x="5833800" y="347472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proporção de palavras neutras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9"/>
          <p:cNvSpPr/>
          <p:nvPr/>
        </p:nvSpPr>
        <p:spPr>
          <a:xfrm>
            <a:off x="5760720" y="3895200"/>
            <a:ext cx="2907360" cy="566640"/>
          </a:xfrm>
          <a:prstGeom prst="rect">
            <a:avLst/>
          </a:prstGeom>
          <a:solidFill>
            <a:srgbClr val="FAFAF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0"/>
          <p:cNvSpPr/>
          <p:nvPr/>
        </p:nvSpPr>
        <p:spPr>
          <a:xfrm>
            <a:off x="5833800" y="391356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compound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1"/>
          <p:cNvSpPr/>
          <p:nvPr/>
        </p:nvSpPr>
        <p:spPr>
          <a:xfrm>
            <a:off x="5833800" y="416952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score agregado normalizado -1 a +1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2"/>
          <p:cNvSpPr/>
          <p:nvPr/>
        </p:nvSpPr>
        <p:spPr>
          <a:xfrm>
            <a:off x="502920" y="470016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💡  Nos exercícios usaremos apenas o compound para classificar.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3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4"/>
          <p:cNvSpPr/>
          <p:nvPr/>
        </p:nvSpPr>
        <p:spPr>
          <a:xfrm>
            <a:off x="320040" y="4754880"/>
            <a:ext cx="850356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Bloco 2 — A Ferramenta LeIA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457200" y="25596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B5E"/>
                </a:solidFill>
                <a:effectLst/>
                <a:uFillTx/>
                <a:latin typeface="Calibri"/>
                <a:ea typeface="Calibri"/>
              </a:rPr>
              <a:t>Como o Algoritmo Calcula o Score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"/>
          <p:cNvSpPr/>
          <p:nvPr/>
        </p:nvSpPr>
        <p:spPr>
          <a:xfrm>
            <a:off x="457200" y="896040"/>
            <a:ext cx="5436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640080" y="89604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A lógica interna da soma de pesos lexicais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365760" y="1298520"/>
            <a:ext cx="8412120" cy="456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502920" y="12985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"gostei muito do jogo, excelente e maravilhoso!"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5"/>
          <p:cNvSpPr/>
          <p:nvPr/>
        </p:nvSpPr>
        <p:spPr>
          <a:xfrm>
            <a:off x="365760" y="1901880"/>
            <a:ext cx="1608840" cy="712800"/>
          </a:xfrm>
          <a:prstGeom prst="rect">
            <a:avLst/>
          </a:prstGeom>
          <a:solidFill>
            <a:srgbClr val="C8F7E0"/>
          </a:solidFill>
          <a:ln w="1905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365760" y="1848240"/>
            <a:ext cx="1608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gostei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365760" y="2177280"/>
            <a:ext cx="1608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EC4B6"/>
                </a:solidFill>
                <a:effectLst/>
                <a:uFillTx/>
                <a:latin typeface="Calibri"/>
              </a:rPr>
              <a:t>+2.5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365760" y="2433600"/>
            <a:ext cx="160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positivo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9"/>
          <p:cNvSpPr/>
          <p:nvPr/>
        </p:nvSpPr>
        <p:spPr>
          <a:xfrm>
            <a:off x="2066400" y="1901880"/>
            <a:ext cx="1608840" cy="712800"/>
          </a:xfrm>
          <a:prstGeom prst="rect">
            <a:avLst/>
          </a:prstGeom>
          <a:solidFill>
            <a:srgbClr val="C8F7E0"/>
          </a:solidFill>
          <a:ln w="1905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2066400" y="1848240"/>
            <a:ext cx="1608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muito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2066400" y="2177280"/>
            <a:ext cx="1608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EC4B6"/>
                </a:solidFill>
                <a:effectLst/>
                <a:uFillTx/>
                <a:latin typeface="Calibri"/>
              </a:rPr>
              <a:t>+1.1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2066400" y="2433600"/>
            <a:ext cx="160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intensif.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3"/>
          <p:cNvSpPr/>
          <p:nvPr/>
        </p:nvSpPr>
        <p:spPr>
          <a:xfrm>
            <a:off x="3767400" y="1901880"/>
            <a:ext cx="1608840" cy="712800"/>
          </a:xfrm>
          <a:prstGeom prst="rect">
            <a:avLst/>
          </a:prstGeom>
          <a:solidFill>
            <a:srgbClr val="F4F7FC"/>
          </a:solidFill>
          <a:ln w="19050">
            <a:solidFill>
              <a:srgbClr val="6B7A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3767400" y="1848240"/>
            <a:ext cx="1608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do jogo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5"/>
          <p:cNvSpPr/>
          <p:nvPr/>
        </p:nvSpPr>
        <p:spPr>
          <a:xfrm>
            <a:off x="3767400" y="2177280"/>
            <a:ext cx="1608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—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6"/>
          <p:cNvSpPr/>
          <p:nvPr/>
        </p:nvSpPr>
        <p:spPr>
          <a:xfrm>
            <a:off x="3767400" y="2433600"/>
            <a:ext cx="160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neutro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7"/>
          <p:cNvSpPr/>
          <p:nvPr/>
        </p:nvSpPr>
        <p:spPr>
          <a:xfrm>
            <a:off x="5468040" y="1901880"/>
            <a:ext cx="1608840" cy="712800"/>
          </a:xfrm>
          <a:prstGeom prst="rect">
            <a:avLst/>
          </a:prstGeom>
          <a:solidFill>
            <a:srgbClr val="C8F7E0"/>
          </a:solidFill>
          <a:ln w="1905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5468040" y="1848240"/>
            <a:ext cx="1608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excelente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5468040" y="2177280"/>
            <a:ext cx="1608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EC4B6"/>
                </a:solidFill>
                <a:effectLst/>
                <a:uFillTx/>
                <a:latin typeface="Calibri"/>
              </a:rPr>
              <a:t>+3.0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0"/>
          <p:cNvSpPr/>
          <p:nvPr/>
        </p:nvSpPr>
        <p:spPr>
          <a:xfrm>
            <a:off x="5468040" y="2433600"/>
            <a:ext cx="160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positivo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1"/>
          <p:cNvSpPr/>
          <p:nvPr/>
        </p:nvSpPr>
        <p:spPr>
          <a:xfrm>
            <a:off x="7169040" y="1901880"/>
            <a:ext cx="1608840" cy="712800"/>
          </a:xfrm>
          <a:prstGeom prst="rect">
            <a:avLst/>
          </a:prstGeom>
          <a:solidFill>
            <a:srgbClr val="C8F7E0"/>
          </a:solidFill>
          <a:ln w="1905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2"/>
          <p:cNvSpPr/>
          <p:nvPr/>
        </p:nvSpPr>
        <p:spPr>
          <a:xfrm>
            <a:off x="7169040" y="1848240"/>
            <a:ext cx="1608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maravilhoso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3"/>
          <p:cNvSpPr/>
          <p:nvPr/>
        </p:nvSpPr>
        <p:spPr>
          <a:xfrm>
            <a:off x="7169040" y="2177280"/>
            <a:ext cx="1608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EC4B6"/>
                </a:solidFill>
                <a:effectLst/>
                <a:uFillTx/>
                <a:latin typeface="Calibri"/>
              </a:rPr>
              <a:t>+3.1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7169040" y="2433600"/>
            <a:ext cx="160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positivo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5"/>
          <p:cNvSpPr/>
          <p:nvPr/>
        </p:nvSpPr>
        <p:spPr>
          <a:xfrm>
            <a:off x="365760" y="2834640"/>
            <a:ext cx="8412480" cy="360"/>
          </a:xfrm>
          <a:prstGeom prst="line">
            <a:avLst/>
          </a:prstGeom>
          <a:ln w="12700">
            <a:solidFill>
              <a:srgbClr val="00B4D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6"/>
          <p:cNvSpPr/>
          <p:nvPr/>
        </p:nvSpPr>
        <p:spPr>
          <a:xfrm>
            <a:off x="365760" y="294444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Cálculo do compound score: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7"/>
          <p:cNvSpPr/>
          <p:nvPr/>
        </p:nvSpPr>
        <p:spPr>
          <a:xfrm>
            <a:off x="365760" y="323712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soma dos pesos = +2.5 + 1.1 + 3.0 + 3.1 = 9.7  →  normalizado para  compound ≈ +0.87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8"/>
          <p:cNvSpPr/>
          <p:nvPr/>
        </p:nvSpPr>
        <p:spPr>
          <a:xfrm>
            <a:off x="365760" y="3611880"/>
            <a:ext cx="3931560" cy="594000"/>
          </a:xfrm>
          <a:prstGeom prst="rect">
            <a:avLst/>
          </a:prstGeom>
          <a:solidFill>
            <a:srgbClr val="C8F7E0"/>
          </a:solidFill>
          <a:ln w="19050">
            <a:solidFill>
              <a:srgbClr val="2EC4B6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9"/>
          <p:cNvSpPr/>
          <p:nvPr/>
        </p:nvSpPr>
        <p:spPr>
          <a:xfrm>
            <a:off x="548640" y="361188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6E52"/>
                </a:solidFill>
                <a:effectLst/>
                <a:uFillTx/>
                <a:latin typeface="Calibri"/>
              </a:rPr>
              <a:t>POSITIVA  (compound ≥ 0.05)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0"/>
          <p:cNvSpPr/>
          <p:nvPr/>
        </p:nvSpPr>
        <p:spPr>
          <a:xfrm>
            <a:off x="4663440" y="3611880"/>
            <a:ext cx="4114440" cy="594000"/>
          </a:xfrm>
          <a:prstGeom prst="rect">
            <a:avLst/>
          </a:prstGeom>
          <a:solidFill>
            <a:srgbClr val="EAF3FB"/>
          </a:solidFill>
          <a:ln w="19050">
            <a:solidFill>
              <a:srgbClr val="00B4D8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1"/>
          <p:cNvSpPr/>
          <p:nvPr/>
        </p:nvSpPr>
        <p:spPr>
          <a:xfrm>
            <a:off x="4846320" y="3611880"/>
            <a:ext cx="3931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pos: 0.58  |  neg: 0.00  |  neu: 0.42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2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3"/>
          <p:cNvSpPr/>
          <p:nvPr/>
        </p:nvSpPr>
        <p:spPr>
          <a:xfrm>
            <a:off x="320040" y="4754880"/>
            <a:ext cx="850356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Bloco 2 — A Soma dos Pesos Léxicos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0" y="0"/>
            <a:ext cx="9143640" cy="8773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457200" y="0"/>
            <a:ext cx="850356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Bloco 3  ·  Desafio da Negação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457200" y="1024200"/>
            <a:ext cx="8229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 Problema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"/>
          <p:cNvSpPr/>
          <p:nvPr/>
        </p:nvSpPr>
        <p:spPr>
          <a:xfrm>
            <a:off x="457200" y="13716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BCC"/>
                </a:solidFill>
                <a:effectLst/>
                <a:uFillTx/>
                <a:latin typeface="Calibri"/>
              </a:rPr>
              <a:t>Adicionando 'não' à frase, o algoritmo deve reconhecer o modificador e inverter a polaridade: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"/>
          <p:cNvSpPr/>
          <p:nvPr/>
        </p:nvSpPr>
        <p:spPr>
          <a:xfrm>
            <a:off x="365760" y="1764720"/>
            <a:ext cx="4160160" cy="2923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365760" y="1764720"/>
            <a:ext cx="416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SEM NEGAÇÃO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6"/>
          <p:cNvSpPr/>
          <p:nvPr/>
        </p:nvSpPr>
        <p:spPr>
          <a:xfrm>
            <a:off x="365760" y="2057400"/>
            <a:ext cx="4160160" cy="2331360"/>
          </a:xfrm>
          <a:prstGeom prst="rect">
            <a:avLst/>
          </a:prstGeom>
          <a:solidFill>
            <a:srgbClr val="1A3D2B"/>
          </a:solidFill>
          <a:ln w="254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493920" y="2139840"/>
            <a:ext cx="3885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"O jogo é excelente, gostei muito."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493560" y="2834640"/>
            <a:ext cx="3794760" cy="360"/>
          </a:xfrm>
          <a:prstGeom prst="line">
            <a:avLst/>
          </a:prstGeom>
          <a:ln w="12700">
            <a:solidFill>
              <a:srgbClr val="2EC4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493920" y="2889360"/>
            <a:ext cx="3885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ABBCC"/>
                </a:solidFill>
                <a:effectLst/>
                <a:uFillTx/>
                <a:latin typeface="Calibri"/>
              </a:rPr>
              <a:t>Análise: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493920" y="3127320"/>
            <a:ext cx="388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excelente → +3.0 · gostei → +2.5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1"/>
          <p:cNvSpPr/>
          <p:nvPr/>
        </p:nvSpPr>
        <p:spPr>
          <a:xfrm>
            <a:off x="493920" y="3502080"/>
            <a:ext cx="3858480" cy="4021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2"/>
          <p:cNvSpPr/>
          <p:nvPr/>
        </p:nvSpPr>
        <p:spPr>
          <a:xfrm>
            <a:off x="493920" y="3502080"/>
            <a:ext cx="3858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POSITIVA: compound +0.83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3"/>
          <p:cNvSpPr/>
          <p:nvPr/>
        </p:nvSpPr>
        <p:spPr>
          <a:xfrm>
            <a:off x="4846320" y="1764720"/>
            <a:ext cx="4160160" cy="292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4846320" y="1764720"/>
            <a:ext cx="416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 NEGAÇÃO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5"/>
          <p:cNvSpPr/>
          <p:nvPr/>
        </p:nvSpPr>
        <p:spPr>
          <a:xfrm>
            <a:off x="4846320" y="2057400"/>
            <a:ext cx="4160160" cy="2331360"/>
          </a:xfrm>
          <a:prstGeom prst="rect">
            <a:avLst/>
          </a:prstGeom>
          <a:solidFill>
            <a:srgbClr val="3D1A1A"/>
          </a:solidFill>
          <a:ln w="254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6"/>
          <p:cNvSpPr/>
          <p:nvPr/>
        </p:nvSpPr>
        <p:spPr>
          <a:xfrm>
            <a:off x="4974480" y="2139840"/>
            <a:ext cx="3885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"O jogo não é excelente,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não gostei muito não."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7"/>
          <p:cNvSpPr/>
          <p:nvPr/>
        </p:nvSpPr>
        <p:spPr>
          <a:xfrm>
            <a:off x="4974120" y="2834640"/>
            <a:ext cx="3794760" cy="360"/>
          </a:xfrm>
          <a:prstGeom prst="line">
            <a:avLst/>
          </a:prstGeom>
          <a:ln w="12700">
            <a:solidFill>
              <a:srgbClr val="E639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8"/>
          <p:cNvSpPr/>
          <p:nvPr/>
        </p:nvSpPr>
        <p:spPr>
          <a:xfrm>
            <a:off x="4974480" y="2889360"/>
            <a:ext cx="3885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ABBCC"/>
                </a:solidFill>
                <a:effectLst/>
                <a:uFillTx/>
                <a:latin typeface="Calibri"/>
              </a:rPr>
              <a:t>Análise: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9"/>
          <p:cNvSpPr/>
          <p:nvPr/>
        </p:nvSpPr>
        <p:spPr>
          <a:xfrm>
            <a:off x="4974480" y="3127320"/>
            <a:ext cx="388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"não" inverte excelente e gostei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0"/>
          <p:cNvSpPr/>
          <p:nvPr/>
        </p:nvSpPr>
        <p:spPr>
          <a:xfrm>
            <a:off x="4974480" y="3502080"/>
            <a:ext cx="3858480" cy="402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1"/>
          <p:cNvSpPr/>
          <p:nvPr/>
        </p:nvSpPr>
        <p:spPr>
          <a:xfrm>
            <a:off x="4974480" y="3502080"/>
            <a:ext cx="3858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NEGATIVA: compound -0.61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2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3"/>
          <p:cNvSpPr/>
          <p:nvPr/>
        </p:nvSpPr>
        <p:spPr>
          <a:xfrm>
            <a:off x="320040" y="4754880"/>
            <a:ext cx="850356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Bloco 3 — Desafio da Negação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0"/>
          <p:cNvSpPr/>
          <p:nvPr/>
        </p:nvSpPr>
        <p:spPr>
          <a:xfrm>
            <a:off x="457200" y="25596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B5E"/>
                </a:solidFill>
                <a:effectLst/>
                <a:uFillTx/>
                <a:latin typeface="Calibri"/>
                <a:ea typeface="Calibri"/>
              </a:rPr>
              <a:t>Como o LeIA Resolve a Negação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457200" y="896040"/>
            <a:ext cx="5436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640080" y="89604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Regras sintáticas que modificam o peso lexical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"/>
          <p:cNvSpPr/>
          <p:nvPr/>
        </p:nvSpPr>
        <p:spPr>
          <a:xfrm>
            <a:off x="457200" y="126180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As regras de negação herdadas do VADER: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4"/>
          <p:cNvSpPr/>
          <p:nvPr/>
        </p:nvSpPr>
        <p:spPr>
          <a:xfrm>
            <a:off x="365760" y="1572840"/>
            <a:ext cx="8412120" cy="785880"/>
          </a:xfrm>
          <a:prstGeom prst="rect">
            <a:avLst/>
          </a:prstGeom>
          <a:solidFill>
            <a:srgbClr val="EAF3FB"/>
          </a:solidFill>
          <a:ln w="19050">
            <a:solidFill>
              <a:srgbClr val="2EC4B6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5"/>
          <p:cNvSpPr/>
          <p:nvPr/>
        </p:nvSpPr>
        <p:spPr>
          <a:xfrm>
            <a:off x="365760" y="1572840"/>
            <a:ext cx="63720" cy="7858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6"/>
          <p:cNvSpPr/>
          <p:nvPr/>
        </p:nvSpPr>
        <p:spPr>
          <a:xfrm>
            <a:off x="530280" y="162756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Regra 1 — Negação direta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530280" y="1892880"/>
            <a:ext cx="484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Palavras precedidas por 'não', 'nunca', 'jamais', 'nem' têm o score multiplicado por -0.74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8"/>
          <p:cNvSpPr/>
          <p:nvPr/>
        </p:nvSpPr>
        <p:spPr>
          <a:xfrm>
            <a:off x="5486400" y="1627560"/>
            <a:ext cx="3108600" cy="658080"/>
          </a:xfrm>
          <a:prstGeom prst="rect">
            <a:avLst/>
          </a:prstGeom>
          <a:solidFill>
            <a:srgbClr val="F0FBF9"/>
          </a:solidFill>
          <a:ln w="127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9"/>
          <p:cNvSpPr/>
          <p:nvPr/>
        </p:nvSpPr>
        <p:spPr>
          <a:xfrm>
            <a:off x="5577840" y="1627560"/>
            <a:ext cx="2925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não excelente:  +3.0 × -0.74 = -2.22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0"/>
          <p:cNvSpPr/>
          <p:nvPr/>
        </p:nvSpPr>
        <p:spPr>
          <a:xfrm>
            <a:off x="365760" y="2441520"/>
            <a:ext cx="8412120" cy="785880"/>
          </a:xfrm>
          <a:prstGeom prst="rect">
            <a:avLst/>
          </a:prstGeom>
          <a:solidFill>
            <a:srgbClr val="EAF3FB"/>
          </a:solidFill>
          <a:ln w="19050">
            <a:solidFill>
              <a:srgbClr val="2EC4B6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1"/>
          <p:cNvSpPr/>
          <p:nvPr/>
        </p:nvSpPr>
        <p:spPr>
          <a:xfrm>
            <a:off x="365760" y="2441520"/>
            <a:ext cx="63720" cy="7858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2"/>
          <p:cNvSpPr/>
          <p:nvPr/>
        </p:nvSpPr>
        <p:spPr>
          <a:xfrm>
            <a:off x="530280" y="249624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Regra 2 — Janela de 3 tokens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530280" y="2761560"/>
            <a:ext cx="484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O algoritmo verifica os 3 tokens anteriores à palavra-alvo em busca de negadores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5486400" y="2496240"/>
            <a:ext cx="3108600" cy="658080"/>
          </a:xfrm>
          <a:prstGeom prst="rect">
            <a:avLst/>
          </a:prstGeom>
          <a:solidFill>
            <a:srgbClr val="F0FBF9"/>
          </a:solidFill>
          <a:ln w="127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5"/>
          <p:cNvSpPr/>
          <p:nvPr/>
        </p:nvSpPr>
        <p:spPr>
          <a:xfrm>
            <a:off x="5577840" y="2496240"/>
            <a:ext cx="2925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"não gostei muito não"  →  cada negador age na palavra seguinte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365760" y="3310200"/>
            <a:ext cx="8412120" cy="785880"/>
          </a:xfrm>
          <a:prstGeom prst="rect">
            <a:avLst/>
          </a:prstGeom>
          <a:solidFill>
            <a:srgbClr val="EAF3FB"/>
          </a:solidFill>
          <a:ln w="19050">
            <a:solidFill>
              <a:srgbClr val="2EC4B6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7"/>
          <p:cNvSpPr/>
          <p:nvPr/>
        </p:nvSpPr>
        <p:spPr>
          <a:xfrm>
            <a:off x="365760" y="3310200"/>
            <a:ext cx="63720" cy="7858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8"/>
          <p:cNvSpPr/>
          <p:nvPr/>
        </p:nvSpPr>
        <p:spPr>
          <a:xfrm>
            <a:off x="530280" y="336492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Regra 3 — Intensificadores (booster)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9"/>
          <p:cNvSpPr/>
          <p:nvPr/>
        </p:nvSpPr>
        <p:spPr>
          <a:xfrm>
            <a:off x="530280" y="3630240"/>
            <a:ext cx="484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"muito", "extremamente", "super" amplificam o peso; "meio", "quase" reduzem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0"/>
          <p:cNvSpPr/>
          <p:nvPr/>
        </p:nvSpPr>
        <p:spPr>
          <a:xfrm>
            <a:off x="5486400" y="3364920"/>
            <a:ext cx="3108600" cy="658080"/>
          </a:xfrm>
          <a:prstGeom prst="rect">
            <a:avLst/>
          </a:prstGeom>
          <a:solidFill>
            <a:srgbClr val="F0FBF9"/>
          </a:solidFill>
          <a:ln w="1270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1"/>
          <p:cNvSpPr/>
          <p:nvPr/>
        </p:nvSpPr>
        <p:spPr>
          <a:xfrm>
            <a:off x="5577840" y="3364920"/>
            <a:ext cx="2925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muito excelente: +3.0 + 0.293 = +3.293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2"/>
          <p:cNvSpPr/>
          <p:nvPr/>
        </p:nvSpPr>
        <p:spPr>
          <a:xfrm>
            <a:off x="365760" y="4206240"/>
            <a:ext cx="8412120" cy="402120"/>
          </a:xfrm>
          <a:prstGeom prst="rect">
            <a:avLst/>
          </a:prstGeom>
          <a:solidFill>
            <a:srgbClr val="FFF8EE"/>
          </a:solidFill>
          <a:ln w="1905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3"/>
          <p:cNvSpPr/>
          <p:nvPr/>
        </p:nvSpPr>
        <p:spPr>
          <a:xfrm>
            <a:off x="502920" y="4206240"/>
            <a:ext cx="8229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85500"/>
                </a:solidFill>
                <a:effectLst/>
                <a:uFillTx/>
                <a:latin typeface="Calibri"/>
              </a:rPr>
              <a:t>⚠️  Limitação: funciona bem para negação simples, mas falha com dupla negação ('não é ruim' = bom?) e construções ambíguas.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4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5"/>
          <p:cNvSpPr/>
          <p:nvPr/>
        </p:nvSpPr>
        <p:spPr>
          <a:xfrm>
            <a:off x="320040" y="4754880"/>
            <a:ext cx="850356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Bloco 3 — Regras de Negação no LeIA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0" y="0"/>
            <a:ext cx="9143640" cy="877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457200" y="0"/>
            <a:ext cx="850356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Bloco 4  ·  O Problema do Sarcasmo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457200" y="100584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Por que a ironia quebra o NLP?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457200" y="14083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BCC"/>
                </a:solidFill>
                <a:effectLst/>
                <a:uFillTx/>
                <a:latin typeface="Calibri"/>
              </a:rPr>
              <a:t>O sarcasmo usa palavras positivas para expressar sentimento negativo — o oposto do que o dicionário prevê.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4"/>
          <p:cNvSpPr/>
          <p:nvPr/>
        </p:nvSpPr>
        <p:spPr>
          <a:xfrm>
            <a:off x="457200" y="1874520"/>
            <a:ext cx="8229240" cy="594000"/>
          </a:xfrm>
          <a:prstGeom prst="rect">
            <a:avLst/>
          </a:prstGeom>
          <a:solidFill>
            <a:srgbClr val="2A1A0A"/>
          </a:solidFill>
          <a:ln w="254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621720" y="1874520"/>
            <a:ext cx="7881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i="1" u="none" strike="noStrike">
                <a:solidFill>
                  <a:srgbClr val="FFB703"/>
                </a:solidFill>
                <a:effectLst/>
                <a:uFillTx/>
                <a:latin typeface="Calibri"/>
              </a:rPr>
              <a:t>"Que ótimo jogo! Só trava e perde meu progresso. Perfeito."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457200" y="261504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ABBCC"/>
                </a:solidFill>
                <a:effectLst/>
                <a:uFillTx/>
                <a:latin typeface="Calibri"/>
              </a:rPr>
              <a:t>O que o algoritmo vê: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4754880" y="261504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ABBCC"/>
                </a:solidFill>
                <a:effectLst/>
                <a:uFillTx/>
                <a:latin typeface="Calibri"/>
              </a:rPr>
              <a:t>O que a frase realmente significa: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8"/>
          <p:cNvSpPr/>
          <p:nvPr/>
        </p:nvSpPr>
        <p:spPr>
          <a:xfrm>
            <a:off x="457200" y="2907720"/>
            <a:ext cx="3931560" cy="1508400"/>
          </a:xfrm>
          <a:prstGeom prst="rect">
            <a:avLst/>
          </a:prstGeom>
          <a:solidFill>
            <a:srgbClr val="1A3D2B"/>
          </a:solidFill>
          <a:ln w="19050">
            <a:solidFill>
              <a:srgbClr val="2EC4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594360" y="2980800"/>
            <a:ext cx="365724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EC4B6"/>
                </a:solidFill>
                <a:effectLst/>
                <a:uFillTx/>
                <a:latin typeface="Calibri"/>
              </a:rPr>
              <a:t>"ótimo" → +2.8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EC4B6"/>
                </a:solidFill>
                <a:effectLst/>
                <a:uFillTx/>
                <a:latin typeface="Calibri"/>
              </a:rPr>
              <a:t>"perfeito" → +3.1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EC4B6"/>
                </a:solidFill>
                <a:effectLst/>
                <a:uFillTx/>
                <a:latin typeface="Calibri"/>
              </a:rPr>
              <a:t>compound → +0.71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EC4B6"/>
                </a:solidFill>
                <a:effectLst/>
                <a:uFillTx/>
                <a:latin typeface="Calibri"/>
              </a:rPr>
              <a:t>classificação: POSITIVA ✓?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0"/>
          <p:cNvSpPr/>
          <p:nvPr/>
        </p:nvSpPr>
        <p:spPr>
          <a:xfrm>
            <a:off x="4754880" y="2907720"/>
            <a:ext cx="4114440" cy="1508400"/>
          </a:xfrm>
          <a:prstGeom prst="rect">
            <a:avLst/>
          </a:prstGeom>
          <a:solidFill>
            <a:srgbClr val="3D1A1A"/>
          </a:solidFill>
          <a:ln w="1905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1"/>
          <p:cNvSpPr/>
          <p:nvPr/>
        </p:nvSpPr>
        <p:spPr>
          <a:xfrm>
            <a:off x="4892040" y="2980800"/>
            <a:ext cx="384012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3946"/>
                </a:solidFill>
                <a:effectLst/>
                <a:uFillTx/>
                <a:latin typeface="Calibri"/>
              </a:rPr>
              <a:t>frustração com o jogo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3946"/>
                </a:solidFill>
                <a:effectLst/>
                <a:uFillTx/>
                <a:latin typeface="Calibri"/>
              </a:rPr>
              <a:t>ironia: o oposto do que diz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3946"/>
                </a:solidFill>
                <a:effectLst/>
                <a:uFillTx/>
                <a:latin typeface="Calibri"/>
              </a:rPr>
              <a:t>sentimento real: NEGATIVO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3946"/>
                </a:solidFill>
                <a:effectLst/>
                <a:uFillTx/>
                <a:latin typeface="Calibri"/>
              </a:rPr>
              <a:t>classificação correta: NEGATIVA ✗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2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3"/>
          <p:cNvSpPr/>
          <p:nvPr/>
        </p:nvSpPr>
        <p:spPr>
          <a:xfrm>
            <a:off x="320040" y="4754880"/>
            <a:ext cx="850356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Bloco 4 — Sarcasmo &amp; Ironia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457200" y="25596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2B5E"/>
                </a:solidFill>
                <a:effectLst/>
                <a:uFillTx/>
                <a:latin typeface="Calibri"/>
                <a:ea typeface="Calibri"/>
              </a:rPr>
              <a:t>Por Que a Abordagem Léxica Falha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"/>
          <p:cNvSpPr/>
          <p:nvPr/>
        </p:nvSpPr>
        <p:spPr>
          <a:xfrm>
            <a:off x="457200" y="896040"/>
            <a:ext cx="5436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"/>
          <p:cNvSpPr/>
          <p:nvPr/>
        </p:nvSpPr>
        <p:spPr>
          <a:xfrm>
            <a:off x="640080" y="89604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A99"/>
                </a:solidFill>
                <a:effectLst/>
                <a:uFillTx/>
                <a:latin typeface="Calibri"/>
              </a:rPr>
              <a:t>Três raízes do problema da ironia em NLP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3"/>
          <p:cNvSpPr/>
          <p:nvPr/>
        </p:nvSpPr>
        <p:spPr>
          <a:xfrm>
            <a:off x="365760" y="1261800"/>
            <a:ext cx="8412120" cy="914040"/>
          </a:xfrm>
          <a:prstGeom prst="rect">
            <a:avLst/>
          </a:prstGeom>
          <a:solidFill>
            <a:srgbClr val="EAF3FB"/>
          </a:solidFill>
          <a:ln w="19050">
            <a:solidFill>
              <a:srgbClr val="E63946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4"/>
          <p:cNvSpPr/>
          <p:nvPr/>
        </p:nvSpPr>
        <p:spPr>
          <a:xfrm>
            <a:off x="365760" y="1261800"/>
            <a:ext cx="529920" cy="914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5"/>
          <p:cNvSpPr/>
          <p:nvPr/>
        </p:nvSpPr>
        <p:spPr>
          <a:xfrm>
            <a:off x="365760" y="1261800"/>
            <a:ext cx="52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6"/>
          <p:cNvSpPr/>
          <p:nvPr/>
        </p:nvSpPr>
        <p:spPr>
          <a:xfrm>
            <a:off x="1005840" y="1353240"/>
            <a:ext cx="7589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Ausência de contexto pragmático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7"/>
          <p:cNvSpPr/>
          <p:nvPr/>
        </p:nvSpPr>
        <p:spPr>
          <a:xfrm>
            <a:off x="1005840" y="164592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O dicionário analisa palavras isoladas. Não tem acesso ao tom, à situação, ao histórico conversacional ou à cultura do emissor.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8"/>
          <p:cNvSpPr/>
          <p:nvPr/>
        </p:nvSpPr>
        <p:spPr>
          <a:xfrm>
            <a:off x="365760" y="2267640"/>
            <a:ext cx="8412120" cy="914040"/>
          </a:xfrm>
          <a:prstGeom prst="rect">
            <a:avLst/>
          </a:prstGeom>
          <a:solidFill>
            <a:srgbClr val="FFFBEA"/>
          </a:solidFill>
          <a:ln w="19050">
            <a:solidFill>
              <a:srgbClr val="FFB703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9"/>
          <p:cNvSpPr/>
          <p:nvPr/>
        </p:nvSpPr>
        <p:spPr>
          <a:xfrm>
            <a:off x="365760" y="2267640"/>
            <a:ext cx="529920" cy="914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0"/>
          <p:cNvSpPr/>
          <p:nvPr/>
        </p:nvSpPr>
        <p:spPr>
          <a:xfrm>
            <a:off x="365760" y="2267640"/>
            <a:ext cx="52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1"/>
          <p:cNvSpPr/>
          <p:nvPr/>
        </p:nvSpPr>
        <p:spPr>
          <a:xfrm>
            <a:off x="1005840" y="2359080"/>
            <a:ext cx="7589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Palavras positivas com intenção negativa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2"/>
          <p:cNvSpPr/>
          <p:nvPr/>
        </p:nvSpPr>
        <p:spPr>
          <a:xfrm>
            <a:off x="1005840" y="265176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"Que ótimo", "perfeito" — são expressões positivas usadas ironicamente. O léxico não distingue o uso sincero do sarcástico.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3"/>
          <p:cNvSpPr/>
          <p:nvPr/>
        </p:nvSpPr>
        <p:spPr>
          <a:xfrm>
            <a:off x="365760" y="3273480"/>
            <a:ext cx="8412120" cy="914040"/>
          </a:xfrm>
          <a:prstGeom prst="rect">
            <a:avLst/>
          </a:prstGeom>
          <a:solidFill>
            <a:srgbClr val="EAF3FB"/>
          </a:solidFill>
          <a:ln w="19050">
            <a:solidFill>
              <a:srgbClr val="1A2B5E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4"/>
          <p:cNvSpPr/>
          <p:nvPr/>
        </p:nvSpPr>
        <p:spPr>
          <a:xfrm>
            <a:off x="365760" y="3273480"/>
            <a:ext cx="529920" cy="9140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5"/>
          <p:cNvSpPr/>
          <p:nvPr/>
        </p:nvSpPr>
        <p:spPr>
          <a:xfrm>
            <a:off x="365760" y="3273480"/>
            <a:ext cx="52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6"/>
          <p:cNvSpPr/>
          <p:nvPr/>
        </p:nvSpPr>
        <p:spPr>
          <a:xfrm>
            <a:off x="1005840" y="3364920"/>
            <a:ext cx="7589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B5E"/>
                </a:solidFill>
                <a:effectLst/>
                <a:uFillTx/>
                <a:latin typeface="Calibri"/>
              </a:rPr>
              <a:t>Falta de conhecimento de mundo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7"/>
          <p:cNvSpPr/>
          <p:nvPr/>
        </p:nvSpPr>
        <p:spPr>
          <a:xfrm>
            <a:off x="1005840" y="365760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3344"/>
                </a:solidFill>
                <a:effectLst/>
                <a:uFillTx/>
                <a:latin typeface="Calibri"/>
              </a:rPr>
              <a:t>Para entender que "só trava e perde progresso" é negativo, o sistema precisaria de contexto sobre o que significa um jogo com bugs.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8"/>
          <p:cNvSpPr/>
          <p:nvPr/>
        </p:nvSpPr>
        <p:spPr>
          <a:xfrm>
            <a:off x="365760" y="4297680"/>
            <a:ext cx="8412120" cy="347040"/>
          </a:xfrm>
          <a:prstGeom prst="rect">
            <a:avLst/>
          </a:prstGeom>
          <a:solidFill>
            <a:srgbClr val="FFF0F1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9"/>
          <p:cNvSpPr/>
          <p:nvPr/>
        </p:nvSpPr>
        <p:spPr>
          <a:xfrm>
            <a:off x="502920" y="42976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80011"/>
                </a:solidFill>
                <a:effectLst/>
                <a:uFillTx/>
                <a:latin typeface="Calibri"/>
              </a:rPr>
              <a:t>💡  Modelos de linguagem modernos (LLMs) lidam melhor com sarcasmo por aprenderem padrões contextuais — mas ainda longe do ideal.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0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1"/>
          <p:cNvSpPr/>
          <p:nvPr/>
        </p:nvSpPr>
        <p:spPr>
          <a:xfrm>
            <a:off x="320040" y="4754880"/>
            <a:ext cx="850356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Bloco 4 — Limites do NLP Léxico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LibreOffice/26.2.0.3$Windows_X86_64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2026-05-09T01:16:09Z</dcterms:created>
  <dc:creator>PptxGenJS</dc:creator>
  <dc:description/>
  <dc:language>pt-BR</dc:language>
  <cp:lastModifiedBy/>
  <dcterms:modified xsi:type="dcterms:W3CDTF">2026-05-08T22:24:31Z</dcterms:modified>
  <cp:revision>2</cp:revision>
  <dc:subject>PptxGenJS Presentation</dc:subject>
  <dc:title>Análise de Sentimentos Textual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